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9" y="0"/>
            <a:ext cx="1828799" cy="17906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2728" y="880050"/>
            <a:ext cx="2945170" cy="597794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"/>
            <a:ext cx="2145030" cy="2299970"/>
          </a:xfrm>
          <a:custGeom>
            <a:avLst/>
            <a:gdLst/>
            <a:ahLst/>
            <a:cxnLst/>
            <a:rect l="l" t="t" r="r" b="b"/>
            <a:pathLst>
              <a:path w="2145030" h="2299970">
                <a:moveTo>
                  <a:pt x="2144699" y="2299800"/>
                </a:moveTo>
                <a:lnTo>
                  <a:pt x="0" y="2299800"/>
                </a:lnTo>
                <a:lnTo>
                  <a:pt x="0" y="0"/>
                </a:lnTo>
                <a:lnTo>
                  <a:pt x="2144699" y="0"/>
                </a:lnTo>
                <a:lnTo>
                  <a:pt x="2144699" y="2299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9" y="0"/>
            <a:ext cx="1828799" cy="1790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1466" y="419100"/>
            <a:ext cx="7421067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232" y="1603578"/>
            <a:ext cx="7989535" cy="3269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632" y="79603"/>
            <a:ext cx="4853940" cy="10668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436245" algn="ctr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Times New Roman"/>
                <a:cs typeface="Times New Roman"/>
              </a:rPr>
              <a:t>Jawahar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Education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Society’s</a:t>
            </a:r>
            <a:endParaRPr sz="18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latin typeface="Times New Roman"/>
                <a:cs typeface="Times New Roman"/>
              </a:rPr>
              <a:t>A.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C.Patil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College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Engineering,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Kharghar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800" spc="-10" dirty="0">
                <a:latin typeface="Times New Roman"/>
                <a:cs typeface="Times New Roman"/>
              </a:rPr>
              <a:t>Department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Artificial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Intelligence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Science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3140" y="1524000"/>
            <a:ext cx="7560860" cy="512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145" marR="1894205" indent="-13208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1F5F"/>
                </a:solidFill>
                <a:latin typeface="Times New Roman"/>
                <a:cs typeface="Times New Roman"/>
              </a:rPr>
              <a:t>Human</a:t>
            </a:r>
            <a:r>
              <a:rPr sz="4000" b="1" spc="-9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30" dirty="0" err="1" smtClean="0">
                <a:solidFill>
                  <a:srgbClr val="001F5F"/>
                </a:solidFill>
                <a:latin typeface="Times New Roman"/>
                <a:cs typeface="Times New Roman"/>
              </a:rPr>
              <a:t>Behavio</a:t>
            </a:r>
            <a:r>
              <a:rPr lang="en-US" sz="4000" b="1" spc="-30" dirty="0" err="1" smtClean="0">
                <a:solidFill>
                  <a:srgbClr val="001F5F"/>
                </a:solidFill>
                <a:latin typeface="Times New Roman"/>
                <a:cs typeface="Times New Roman"/>
              </a:rPr>
              <a:t>u</a:t>
            </a:r>
            <a:r>
              <a:rPr sz="4000" b="1" spc="-30" dirty="0" err="1" smtClean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4000" b="1" spc="-30" dirty="0" smtClean="0">
                <a:solidFill>
                  <a:srgbClr val="001F5F"/>
                </a:solidFill>
                <a:latin typeface="Times New Roman"/>
                <a:cs typeface="Times New Roman"/>
              </a:rPr>
              <a:t>-</a:t>
            </a:r>
            <a:r>
              <a:rPr sz="4000" b="1" spc="-10" dirty="0" smtClean="0">
                <a:solidFill>
                  <a:srgbClr val="001F5F"/>
                </a:solidFill>
                <a:latin typeface="Times New Roman"/>
                <a:cs typeface="Times New Roman"/>
              </a:rPr>
              <a:t>Based </a:t>
            </a:r>
            <a:r>
              <a:rPr sz="40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Authentication</a:t>
            </a:r>
            <a:r>
              <a:rPr sz="4000" b="1" spc="-19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System</a:t>
            </a:r>
            <a:endParaRPr sz="4000" dirty="0"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  <a:spcBef>
                <a:spcPts val="800"/>
              </a:spcBef>
            </a:pPr>
            <a:endParaRPr lang="en-US" sz="3200" b="1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  <a:spcBef>
                <a:spcPts val="8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Name</a:t>
            </a:r>
            <a:r>
              <a:rPr sz="32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32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Students</a:t>
            </a:r>
            <a:endParaRPr lang="en-US" sz="3200" b="1" spc="-1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  <a:spcBef>
                <a:spcPts val="800"/>
              </a:spcBef>
            </a:pPr>
            <a:r>
              <a:rPr lang="en-US" sz="2800" dirty="0">
                <a:latin typeface="Times New Roman"/>
                <a:cs typeface="Times New Roman"/>
              </a:rPr>
              <a:t> 0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Sudiksha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Dumbre</a:t>
            </a:r>
            <a:endParaRPr sz="2800" dirty="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26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Patil</a:t>
            </a:r>
            <a:endParaRPr sz="2800" dirty="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32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Vedant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Rajmane</a:t>
            </a:r>
            <a:endParaRPr sz="2800" dirty="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39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Vaishnavi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 err="1">
                <a:latin typeface="Times New Roman"/>
                <a:cs typeface="Times New Roman"/>
              </a:rPr>
              <a:t>Savekar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</a:pPr>
            <a:endParaRPr lang="en-IN" sz="2800" b="1" spc="-10" dirty="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Guide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Dr.</a:t>
            </a:r>
            <a:r>
              <a:rPr sz="2800" b="1" spc="-45" dirty="0">
                <a:latin typeface="Times New Roman"/>
                <a:cs typeface="Times New Roman"/>
              </a:rPr>
              <a:t> J.V.Terdale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40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603578"/>
            <a:ext cx="7667625" cy="4976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9525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 Based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 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modern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based 	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patterns.</a:t>
            </a:r>
            <a:endParaRPr sz="2800">
              <a:latin typeface="Times New Roman"/>
              <a:cs typeface="Times New Roman"/>
            </a:endParaRPr>
          </a:p>
          <a:p>
            <a:pPr marL="30035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such 	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password,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biometrics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behavioural 	biometrics.</a:t>
            </a:r>
            <a:endParaRPr sz="2800">
              <a:latin typeface="Times New Roman"/>
              <a:cs typeface="Times New Roman"/>
            </a:endParaRPr>
          </a:p>
          <a:p>
            <a:pPr marL="300355" marR="124714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typing</a:t>
            </a:r>
            <a:r>
              <a:rPr sz="2800" spc="-10" dirty="0">
                <a:latin typeface="Times New Roman"/>
                <a:cs typeface="Times New Roman"/>
              </a:rPr>
              <a:t> speed, 	</a:t>
            </a:r>
            <a:r>
              <a:rPr sz="2800" dirty="0">
                <a:latin typeface="Times New Roman"/>
                <a:cs typeface="Times New Roman"/>
              </a:rPr>
              <a:t>touchscreen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gestures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	</a:t>
            </a:r>
            <a:r>
              <a:rPr sz="2800" spc="-10" dirty="0">
                <a:latin typeface="Times New Roman"/>
                <a:cs typeface="Times New Roman"/>
              </a:rPr>
              <a:t>analysed.</a:t>
            </a:r>
            <a:endParaRPr sz="2800">
              <a:latin typeface="Times New Roman"/>
              <a:cs typeface="Times New Roman"/>
            </a:endParaRPr>
          </a:p>
          <a:p>
            <a:pPr marL="300355" marR="299085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unauthorized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login 	</a:t>
            </a:r>
            <a:r>
              <a:rPr sz="2800" dirty="0">
                <a:latin typeface="Times New Roman"/>
                <a:cs typeface="Times New Roman"/>
              </a:rPr>
              <a:t>credentials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stolen.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603578"/>
            <a:ext cx="7521575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26416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Cyber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attacks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takeover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incidents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	</a:t>
            </a:r>
            <a:r>
              <a:rPr sz="2800" dirty="0">
                <a:latin typeface="Times New Roman"/>
                <a:cs typeface="Times New Roman"/>
              </a:rPr>
              <a:t>increasing </a:t>
            </a:r>
            <a:r>
              <a:rPr sz="2800" spc="-10" dirty="0">
                <a:latin typeface="Times New Roman"/>
                <a:cs typeface="Times New Roman"/>
              </a:rPr>
              <a:t>rapidly.</a:t>
            </a:r>
            <a:endParaRPr sz="2800">
              <a:latin typeface="Times New Roman"/>
              <a:cs typeface="Times New Roman"/>
            </a:endParaRPr>
          </a:p>
          <a:p>
            <a:pPr marL="300355" marR="86614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Passwords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alone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sufficient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secure 	authentication.</a:t>
            </a:r>
            <a:endParaRPr sz="2800">
              <a:latin typeface="Times New Roman"/>
              <a:cs typeface="Times New Roman"/>
            </a:endParaRPr>
          </a:p>
          <a:p>
            <a:pPr marL="30035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passwords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 	vulnerable.</a:t>
            </a:r>
            <a:endParaRPr sz="2800">
              <a:latin typeface="Times New Roman"/>
              <a:cs typeface="Times New Roman"/>
            </a:endParaRPr>
          </a:p>
          <a:p>
            <a:pPr marL="300355" marR="121412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biometrics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additional 	</a:t>
            </a:r>
            <a:r>
              <a:rPr sz="2800" dirty="0">
                <a:latin typeface="Times New Roman"/>
                <a:cs typeface="Times New Roman"/>
              </a:rPr>
              <a:t>invisible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1430" algn="l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     </a:t>
            </a:r>
            <a:r>
              <a:rPr dirty="0"/>
              <a:t>Objective</a:t>
            </a:r>
            <a:r>
              <a:rPr spc="-55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89262" y="1603578"/>
            <a:ext cx="7228205" cy="3729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96901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spc="-5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biometric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based 	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lang="en-US" sz="2800" spc="-1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00355" marR="33655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spc="-5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online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banking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financial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applications.</a:t>
            </a:r>
            <a:endParaRPr sz="2800" dirty="0">
              <a:latin typeface="Times New Roman"/>
              <a:cs typeface="Times New Roman"/>
            </a:endParaRPr>
          </a:p>
          <a:p>
            <a:pPr marL="300355" marR="110871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spc="-5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analyse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keystroke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patterns.</a:t>
            </a:r>
            <a:endParaRPr sz="2800" dirty="0">
              <a:latin typeface="Times New Roman"/>
              <a:cs typeface="Times New Roman"/>
            </a:endParaRPr>
          </a:p>
          <a:p>
            <a:pPr marL="30035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spc="-5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verification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based 	</a:t>
            </a:r>
            <a:r>
              <a:rPr sz="2800" spc="-10" dirty="0">
                <a:latin typeface="Times New Roman"/>
                <a:cs typeface="Times New Roman"/>
              </a:rPr>
              <a:t>security.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1466" y="160403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1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045" cy="550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82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087120">
                <a:tc>
                  <a:txBody>
                    <a:bodyPr/>
                    <a:lstStyle/>
                    <a:p>
                      <a:pPr marL="85725" marR="4870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Methodology/Architecture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Keystroke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credentials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85725">
                        <a:lnSpc>
                          <a:spcPts val="226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Dynamics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6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keyboard.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6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keystroke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dynamics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can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captures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typing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distinguish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behaviour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such as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keystroke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legitimate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timing,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dwell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flight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attackers.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time.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Behavioral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and provided an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additional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extracted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typing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patterns.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security layer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statistical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extra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hardware.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typing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profiles.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typing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user.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1466" y="228600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045" cy="5592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82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marL="85725" marR="473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Paper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Methodology/Architecture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Results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2.Touchscreen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captures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touchscreen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gestures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interaction.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demonstrated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gesture-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Smartphones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swipe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direction,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speed,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movement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path,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touch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duration.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identification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ts val="2275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improves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smartphone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security.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detect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each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unauthorized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users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know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gestures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password.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profiles.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match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profile, 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1466" y="228600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680" cy="5592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58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97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marL="85725" marR="3346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Methodology/Architecture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3.Behavioral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collects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concluded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Biometrics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interaction behaviour such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behavioral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biometrics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Devices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typing patterns,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scrolling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significantly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improves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behaviour,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touch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gestures.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enables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continuous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continuously monitored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during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usage.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disturbing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ts val="2275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builds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experience.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profile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user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using collected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algorithms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features.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verifies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session.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4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680" cy="526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58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97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85725" marR="3346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Methodology/Architecture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4.Location-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captures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user’s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geographic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GPS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location-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Systems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or network location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services.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detect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3045" indent="-147320">
                        <a:lnSpc>
                          <a:spcPts val="2275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compared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suspicious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attempts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with previously recorded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login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and fraud, especially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locations.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banking and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login location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unusual,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applications.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marks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attempt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suspicious.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3520" indent="-137795">
                        <a:lnSpc>
                          <a:spcPts val="2275"/>
                        </a:lnSpc>
                        <a:buChar char="•"/>
                        <a:tabLst>
                          <a:tab pos="22352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Additional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OTP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security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questions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triggered.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 indent="-151765">
                        <a:lnSpc>
                          <a:spcPts val="2275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27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verification.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1466" y="228600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680" cy="550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58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97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087120">
                <a:tc>
                  <a:txBody>
                    <a:bodyPr/>
                    <a:lstStyle/>
                    <a:p>
                      <a:pPr marL="85725" marR="3346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Methodology/Architecture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13885">
                <a:tc>
                  <a:txBody>
                    <a:bodyPr/>
                    <a:lstStyle/>
                    <a:p>
                      <a:pPr marL="85725" marR="4514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5.Multi-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Factor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Banking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Systems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47955" indent="14732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authentication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factors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password,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biometric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verification,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OTP.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706120" indent="151765">
                        <a:lnSpc>
                          <a:spcPct val="100000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First,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login credentials.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206375" indent="147320">
                        <a:lnSpc>
                          <a:spcPct val="100000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verifies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credentials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stored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database.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210820" indent="137795">
                        <a:lnSpc>
                          <a:spcPct val="100000"/>
                        </a:lnSpc>
                        <a:buChar char="•"/>
                        <a:tabLst>
                          <a:tab pos="22352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OTP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sent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registered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number.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537845" indent="147320">
                        <a:lnSpc>
                          <a:spcPct val="100000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enters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OTP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verification.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found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1473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multi-factor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greatly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unauthorized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identity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theft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online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banking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1466" y="165630"/>
            <a:ext cx="7421067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0" dirty="0"/>
              <a:t> </a:t>
            </a:r>
            <a:r>
              <a:rPr dirty="0"/>
              <a:t>Survey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Paper</a:t>
            </a:r>
            <a:r>
              <a:rPr spc="-95" dirty="0"/>
              <a:t> </a:t>
            </a:r>
            <a:r>
              <a:rPr spc="-50" dirty="0"/>
              <a:t>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2583" y="1197227"/>
          <a:ext cx="8869680" cy="551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2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210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85725" marR="4108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Methodology/Architecture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62805">
                <a:tc>
                  <a:txBody>
                    <a:bodyPr/>
                    <a:lstStyle/>
                    <a:p>
                      <a:pPr marL="85725" marR="2406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6.Machine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Learning Techniques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Behavioural Authentication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46075" indent="20320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28892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typing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speed,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gesture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patterns,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 login behaviour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collected.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286385" indent="151765" algn="just">
                        <a:lnSpc>
                          <a:spcPct val="100000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techniques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behavioural parameters.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219075" indent="151765">
                        <a:lnSpc>
                          <a:spcPct val="100000"/>
                        </a:lnSpc>
                        <a:buChar char="•"/>
                        <a:tabLst>
                          <a:tab pos="23749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algorithms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used to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train a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classification model.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173355" indent="147320">
                        <a:lnSpc>
                          <a:spcPct val="100000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compares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behavioural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trained data.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264160" indent="147320">
                        <a:lnSpc>
                          <a:spcPct val="100000"/>
                        </a:lnSpc>
                        <a:buChar char="•"/>
                        <a:tabLst>
                          <a:tab pos="23304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classifies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legitimate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suspicious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759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improves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behavioral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authentication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abnormal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behavior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effectively.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Calibri"/>
                <a:cs typeface="Calibri"/>
              </a:rPr>
              <a:t>Summary</a:t>
            </a:r>
            <a:r>
              <a:rPr sz="4400" spc="-12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of</a:t>
            </a:r>
            <a:r>
              <a:rPr sz="4400" spc="-12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Literature</a:t>
            </a:r>
            <a:r>
              <a:rPr sz="4400" spc="-12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Review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895" y="1587830"/>
            <a:ext cx="7994015" cy="4220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marR="156845" indent="-2819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spc="-20" dirty="0">
                <a:latin typeface="Calibri"/>
                <a:cs typeface="Calibri"/>
              </a:rPr>
              <a:t>Behavioural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biometrics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effective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security mechanism.</a:t>
            </a:r>
            <a:endParaRPr sz="3200">
              <a:latin typeface="Calibri"/>
              <a:cs typeface="Calibri"/>
            </a:endParaRPr>
          </a:p>
          <a:p>
            <a:pPr marL="294640" marR="5080" indent="-28194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spc="-20" dirty="0">
                <a:latin typeface="Calibri"/>
                <a:cs typeface="Calibri"/>
              </a:rPr>
              <a:t>Typing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behaviour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gesture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patterns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provide </a:t>
            </a:r>
            <a:r>
              <a:rPr sz="3200" dirty="0">
                <a:latin typeface="Calibri"/>
                <a:cs typeface="Calibri"/>
              </a:rPr>
              <a:t>unique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signatures.</a:t>
            </a:r>
            <a:endParaRPr sz="3200">
              <a:latin typeface="Calibri"/>
              <a:cs typeface="Calibri"/>
            </a:endParaRPr>
          </a:p>
          <a:p>
            <a:pPr marL="294640" marR="1424305" indent="-28194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spc="-10" dirty="0">
                <a:latin typeface="Calibri"/>
                <a:cs typeface="Calibri"/>
              </a:rPr>
              <a:t>Location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OTP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verification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improve </a:t>
            </a:r>
            <a:r>
              <a:rPr sz="3200" spc="-20" dirty="0">
                <a:latin typeface="Calibri"/>
                <a:cs typeface="Calibri"/>
              </a:rPr>
              <a:t>authentication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reliability.</a:t>
            </a:r>
            <a:endParaRPr sz="3200">
              <a:latin typeface="Calibri"/>
              <a:cs typeface="Calibri"/>
            </a:endParaRPr>
          </a:p>
          <a:p>
            <a:pPr marL="294640" marR="1567815" indent="-28194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spc="-40" dirty="0">
                <a:latin typeface="Calibri"/>
                <a:cs typeface="Calibri"/>
              </a:rPr>
              <a:t>However,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one </a:t>
            </a:r>
            <a:r>
              <a:rPr sz="3200" spc="-20" dirty="0">
                <a:latin typeface="Calibri"/>
                <a:cs typeface="Calibri"/>
              </a:rPr>
              <a:t>behavioural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parameter.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-5" dirty="0"/>
              <a:t> </a:t>
            </a:r>
            <a:r>
              <a:rPr dirty="0"/>
              <a:t>Gap</a:t>
            </a:r>
            <a:r>
              <a:rPr spc="-5" dirty="0"/>
              <a:t> </a:t>
            </a:r>
            <a:r>
              <a:rPr dirty="0"/>
              <a:t>/</a:t>
            </a:r>
            <a:r>
              <a:rPr spc="-10" dirty="0"/>
              <a:t> Findings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603578"/>
            <a:ext cx="7381240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612775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passwords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or 	</a:t>
            </a:r>
            <a:r>
              <a:rPr sz="2800" spc="-10" dirty="0">
                <a:latin typeface="Times New Roman"/>
                <a:cs typeface="Times New Roman"/>
              </a:rPr>
              <a:t>biometrics.</a:t>
            </a:r>
            <a:endParaRPr sz="2800">
              <a:latin typeface="Times New Roman"/>
              <a:cs typeface="Times New Roman"/>
            </a:endParaRPr>
          </a:p>
          <a:p>
            <a:pPr marL="300355" marR="896619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Few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behavioural 	parameters.</a:t>
            </a:r>
            <a:endParaRPr sz="2800">
              <a:latin typeface="Times New Roman"/>
              <a:cs typeface="Times New Roman"/>
            </a:endParaRPr>
          </a:p>
          <a:p>
            <a:pPr marL="30035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gestures, 	</a:t>
            </a:r>
            <a:r>
              <a:rPr sz="2800" dirty="0">
                <a:latin typeface="Times New Roman"/>
                <a:cs typeface="Times New Roman"/>
              </a:rPr>
              <a:t>location and </a:t>
            </a:r>
            <a:r>
              <a:rPr sz="2800" spc="-20" dirty="0">
                <a:latin typeface="Times New Roman"/>
                <a:cs typeface="Times New Roman"/>
              </a:rPr>
              <a:t>OTP.</a:t>
            </a:r>
            <a:endParaRPr sz="2800">
              <a:latin typeface="Times New Roman"/>
              <a:cs typeface="Times New Roman"/>
            </a:endParaRPr>
          </a:p>
          <a:p>
            <a:pPr marL="300355" marR="1299845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unified</a:t>
            </a:r>
            <a:r>
              <a:rPr sz="2800" spc="-10" dirty="0">
                <a:latin typeface="Times New Roman"/>
                <a:cs typeface="Times New Roman"/>
              </a:rPr>
              <a:t> behavioural 	</a:t>
            </a:r>
            <a:r>
              <a:rPr sz="2800" dirty="0">
                <a:latin typeface="Times New Roman"/>
                <a:cs typeface="Times New Roman"/>
              </a:rPr>
              <a:t>authentication </a:t>
            </a:r>
            <a:r>
              <a:rPr sz="2800" spc="-10" dirty="0">
                <a:latin typeface="Times New Roman"/>
                <a:cs typeface="Times New Roman"/>
              </a:rPr>
              <a:t>framework.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348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517229"/>
            <a:ext cx="7173595" cy="417229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To implement models for user verification.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To enhance user convenience and security.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10" dirty="0">
                <a:latin typeface="Times New Roman"/>
                <a:cs typeface="Times New Roman"/>
              </a:rPr>
              <a:t> framework.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Monitor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keystroke</a:t>
            </a:r>
            <a:r>
              <a:rPr sz="2800" spc="-10" dirty="0">
                <a:latin typeface="Times New Roman"/>
                <a:cs typeface="Times New Roman"/>
              </a:rPr>
              <a:t> patterns.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unusual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location.</a:t>
            </a:r>
            <a:endParaRPr sz="2800" dirty="0">
              <a:latin typeface="Times New Roman"/>
              <a:cs typeface="Times New Roman"/>
            </a:endParaRPr>
          </a:p>
          <a:p>
            <a:pPr marL="300355" marR="193675" indent="-28829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verification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lang="en-US" sz="2800" spc="-30" dirty="0">
                <a:latin typeface="Times New Roman"/>
                <a:cs typeface="Times New Roman"/>
              </a:rPr>
              <a:t>when suspicious activity is detected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00355" algn="l"/>
              </a:tabLst>
            </a:pP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marR="429259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4325" algn="l"/>
              </a:tabLst>
            </a:pPr>
            <a:r>
              <a:rPr dirty="0"/>
              <a:t>Unauthorized</a:t>
            </a:r>
            <a:r>
              <a:rPr spc="-10" dirty="0"/>
              <a:t> </a:t>
            </a:r>
            <a:r>
              <a:rPr dirty="0"/>
              <a:t>access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banking</a:t>
            </a:r>
            <a:r>
              <a:rPr spc="-5" dirty="0"/>
              <a:t> </a:t>
            </a:r>
            <a:r>
              <a:rPr dirty="0"/>
              <a:t>systems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20" dirty="0"/>
              <a:t>major 	</a:t>
            </a:r>
            <a:r>
              <a:rPr spc="-10" dirty="0"/>
              <a:t>concern.</a:t>
            </a:r>
          </a:p>
          <a:p>
            <a:pPr marL="311785" marR="66929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14325" algn="l"/>
              </a:tabLst>
            </a:pPr>
            <a:r>
              <a:rPr spc="-10" dirty="0"/>
              <a:t>Traditional</a:t>
            </a:r>
            <a:r>
              <a:rPr spc="-35" dirty="0"/>
              <a:t> </a:t>
            </a:r>
            <a:r>
              <a:rPr dirty="0"/>
              <a:t>authentication</a:t>
            </a:r>
            <a:r>
              <a:rPr spc="-35" dirty="0"/>
              <a:t> </a:t>
            </a:r>
            <a:r>
              <a:rPr dirty="0"/>
              <a:t>systems</a:t>
            </a:r>
            <a:r>
              <a:rPr spc="-30" dirty="0"/>
              <a:t> </a:t>
            </a:r>
            <a:r>
              <a:rPr dirty="0"/>
              <a:t>cannot</a:t>
            </a:r>
            <a:r>
              <a:rPr spc="-5" dirty="0"/>
              <a:t> </a:t>
            </a:r>
            <a:r>
              <a:rPr spc="-10" dirty="0"/>
              <a:t>always 	</a:t>
            </a:r>
            <a:r>
              <a:rPr dirty="0"/>
              <a:t>detect</a:t>
            </a:r>
            <a:r>
              <a:rPr spc="-40" dirty="0"/>
              <a:t> </a:t>
            </a:r>
            <a:r>
              <a:rPr spc="-10" dirty="0"/>
              <a:t>attackers.</a:t>
            </a:r>
          </a:p>
          <a:p>
            <a:pPr marL="31178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12420" algn="l"/>
              </a:tabLst>
            </a:pPr>
            <a:r>
              <a:rPr dirty="0"/>
              <a:t>If</a:t>
            </a:r>
            <a:r>
              <a:rPr spc="-20" dirty="0"/>
              <a:t> </a:t>
            </a:r>
            <a:r>
              <a:rPr dirty="0"/>
              <a:t>credentials</a:t>
            </a:r>
            <a:r>
              <a:rPr spc="-2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stolen,</a:t>
            </a:r>
            <a:r>
              <a:rPr spc="-15" dirty="0"/>
              <a:t> </a:t>
            </a:r>
            <a:r>
              <a:rPr dirty="0"/>
              <a:t>attackers</a:t>
            </a:r>
            <a:r>
              <a:rPr spc="-20" dirty="0"/>
              <a:t> </a:t>
            </a:r>
            <a:r>
              <a:rPr dirty="0"/>
              <a:t>may</a:t>
            </a:r>
            <a:r>
              <a:rPr spc="-20" dirty="0"/>
              <a:t> </a:t>
            </a:r>
            <a:r>
              <a:rPr dirty="0"/>
              <a:t>gain</a:t>
            </a:r>
            <a:r>
              <a:rPr spc="-15" dirty="0"/>
              <a:t> </a:t>
            </a:r>
            <a:r>
              <a:rPr spc="-10" dirty="0"/>
              <a:t>access.</a:t>
            </a:r>
          </a:p>
          <a:p>
            <a:pPr marL="31178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14325" algn="l"/>
              </a:tabLst>
            </a:pPr>
            <a:r>
              <a:rPr spc="-30" dirty="0"/>
              <a:t>A</a:t>
            </a:r>
            <a:r>
              <a:rPr spc="-155" dirty="0"/>
              <a:t> </a:t>
            </a:r>
            <a:r>
              <a:rPr dirty="0"/>
              <a:t>behavioural</a:t>
            </a:r>
            <a:r>
              <a:rPr spc="-25" dirty="0"/>
              <a:t> </a:t>
            </a:r>
            <a:r>
              <a:rPr dirty="0"/>
              <a:t>authentication</a:t>
            </a:r>
            <a:r>
              <a:rPr spc="-15" dirty="0"/>
              <a:t> </a:t>
            </a:r>
            <a:r>
              <a:rPr dirty="0"/>
              <a:t>system</a:t>
            </a:r>
            <a:r>
              <a:rPr spc="-15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help</a:t>
            </a:r>
            <a:r>
              <a:rPr spc="15" dirty="0"/>
              <a:t> </a:t>
            </a:r>
            <a:r>
              <a:rPr spc="-10" dirty="0"/>
              <a:t>identify 	</a:t>
            </a:r>
            <a:r>
              <a:rPr dirty="0"/>
              <a:t>legitimate</a:t>
            </a:r>
            <a:r>
              <a:rPr spc="-50" dirty="0"/>
              <a:t> </a:t>
            </a:r>
            <a:r>
              <a:rPr spc="-10" dirty="0"/>
              <a:t>users.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50973" y="29540"/>
            <a:ext cx="4239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361" y="1063497"/>
            <a:ext cx="8744585" cy="5632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75565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Behaviour 	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25" dirty="0">
                <a:latin typeface="Times New Roman"/>
                <a:cs typeface="Times New Roman"/>
              </a:rPr>
              <a:t> as 	</a:t>
            </a:r>
            <a:r>
              <a:rPr sz="2800" spc="-10" dirty="0">
                <a:latin typeface="Times New Roman"/>
                <a:cs typeface="Times New Roman"/>
              </a:rPr>
              <a:t>banking.</a:t>
            </a:r>
            <a:endParaRPr sz="2800" dirty="0">
              <a:latin typeface="Times New Roman"/>
              <a:cs typeface="Times New Roman"/>
            </a:endParaRPr>
          </a:p>
          <a:p>
            <a:pPr marL="300355" marR="508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(username/password, 	</a:t>
            </a:r>
            <a:r>
              <a:rPr sz="2800" dirty="0">
                <a:latin typeface="Times New Roman"/>
                <a:cs typeface="Times New Roman"/>
              </a:rPr>
              <a:t>PIN,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biometrics)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behavioral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biometrics.</a:t>
            </a:r>
            <a:endParaRPr sz="2800" dirty="0">
              <a:latin typeface="Times New Roman"/>
              <a:cs typeface="Times New Roman"/>
            </a:endParaRPr>
          </a:p>
          <a:p>
            <a:pPr marL="300355" marR="1504315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asks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questions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monitors 	</a:t>
            </a:r>
            <a:r>
              <a:rPr sz="2800" dirty="0">
                <a:latin typeface="Times New Roman"/>
                <a:cs typeface="Times New Roman"/>
              </a:rPr>
              <a:t>typing behaviour and touchscreen </a:t>
            </a:r>
            <a:r>
              <a:rPr sz="2800" spc="-10" dirty="0">
                <a:latin typeface="Times New Roman"/>
                <a:cs typeface="Times New Roman"/>
              </a:rPr>
              <a:t>gestures.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checks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permission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granted.</a:t>
            </a:r>
            <a:endParaRPr sz="2800" dirty="0">
              <a:latin typeface="Times New Roman"/>
              <a:cs typeface="Times New Roman"/>
            </a:endParaRPr>
          </a:p>
          <a:p>
            <a:pPr marL="300355" marR="233045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OTP</a:t>
            </a:r>
            <a:r>
              <a:rPr lang="en-US" sz="2800" spc="-1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is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sent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spc="-25" dirty="0">
                <a:latin typeface="Times New Roman"/>
                <a:cs typeface="Times New Roman"/>
              </a:rPr>
              <a:t>to </a:t>
            </a:r>
            <a:r>
              <a:rPr lang="en-US" sz="2800" dirty="0">
                <a:latin typeface="Times New Roman"/>
                <a:cs typeface="Times New Roman"/>
              </a:rPr>
              <a:t>the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registered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mobile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number for additional verification.</a:t>
            </a:r>
            <a:endParaRPr lang="en-US" sz="2800" dirty="0">
              <a:latin typeface="Times New Roman"/>
              <a:cs typeface="Times New Roman"/>
            </a:endParaRPr>
          </a:p>
          <a:p>
            <a:pPr marL="300355" marR="1433830" indent="-28829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analysis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verification,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denies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7BF9C8-0BD6-6D7D-984F-402545E6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C587DE5C-DCC3-44AF-8FFF-843ED8503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0973" y="29540"/>
            <a:ext cx="4239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Block Diagram</a:t>
            </a:r>
            <a:endParaRPr spc="-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87F7DA6-79E6-113D-8342-9CA2E3756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93" y="786460"/>
            <a:ext cx="4570214" cy="607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07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2549" y="-27558"/>
            <a:ext cx="7277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</a:t>
            </a:r>
            <a:r>
              <a:rPr dirty="0"/>
              <a:t>Architecture</a:t>
            </a:r>
            <a:r>
              <a:rPr spc="-30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3025" y="1132577"/>
            <a:ext cx="9604375" cy="5729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1. User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The person who wants to access the system Enters login details 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2. Login (Email + Password)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User provides credentials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System checks : Whether user exists and Whether password is correct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3. Behavior Capture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System records user activity: Typing speed , Key hold time , Mouse movement ,Clicks and Location (latitude, longitude)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4. Backend Processing (Flask)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Receives data from frontend</a:t>
            </a:r>
          </a:p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Performs : Password verification , Behavior comparison and Algorithm execution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DDBBC1-0991-CE83-906C-8A6BC001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E0BE9254-3D12-0F23-3A75-38EDA4360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2549" y="-27558"/>
            <a:ext cx="7277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  </a:t>
            </a:r>
            <a:r>
              <a:rPr dirty="0"/>
              <a:t>Architecture</a:t>
            </a:r>
            <a:r>
              <a:rPr spc="-30" dirty="0"/>
              <a:t> 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2E529A7-9AA8-FF09-BFF7-3E7E8C1F3F94}"/>
              </a:ext>
            </a:extLst>
          </p:cNvPr>
          <p:cNvSpPr txBox="1"/>
          <p:nvPr/>
        </p:nvSpPr>
        <p:spPr>
          <a:xfrm>
            <a:off x="304800" y="1066800"/>
            <a:ext cx="8458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(User +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Data)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Stores:User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credentials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to:Fetch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data during login and Compare with current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Trust Score Calculation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score using: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data and Mouse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Weighted Trust Score Algorithm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Decision (Threshold)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trust score with limits: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75 → Login success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50–74 → Security question / OTP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50 → Access denied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71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75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517229"/>
            <a:ext cx="7574280" cy="34404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Interface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Layer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Analysis</a:t>
            </a:r>
            <a:r>
              <a:rPr sz="2800" spc="-10" dirty="0">
                <a:latin typeface="Times New Roman"/>
                <a:cs typeface="Times New Roman"/>
              </a:rPr>
              <a:t> Engine</a:t>
            </a:r>
            <a:endParaRPr sz="2800" dirty="0">
              <a:latin typeface="Times New Roman"/>
              <a:cs typeface="Times New Roman"/>
            </a:endParaRPr>
          </a:p>
          <a:p>
            <a:pPr marL="300355" marR="1718310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Multi-</a:t>
            </a:r>
            <a:r>
              <a:rPr sz="2800" spc="-10" dirty="0">
                <a:latin typeface="Times New Roman"/>
                <a:cs typeface="Times New Roman"/>
              </a:rPr>
              <a:t>factor 	Authentication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profiles</a:t>
            </a:r>
            <a:endParaRPr sz="2800" dirty="0">
              <a:latin typeface="Times New Roman"/>
              <a:cs typeface="Times New Roman"/>
            </a:endParaRPr>
          </a:p>
          <a:p>
            <a:pPr marL="300355" marR="598805" indent="-28829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Integration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location 	services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381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Algorithm</a:t>
            </a:r>
            <a:endParaRPr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635D031-F607-F160-4575-58FAA4888A65}"/>
              </a:ext>
            </a:extLst>
          </p:cNvPr>
          <p:cNvSpPr txBox="1"/>
          <p:nvPr/>
        </p:nvSpPr>
        <p:spPr>
          <a:xfrm>
            <a:off x="190499" y="1295400"/>
            <a:ext cx="8763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Keystroke dynamics : used to enhance security by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user's typing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helps identify genuine users, detect abnormal activity, and prevent unauthorized access even if the password is compromised</a:t>
            </a:r>
            <a:r>
              <a:rPr lang="en-IN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Trust Score Algorithm : It is a decision-making algorithm that calculates a final score by combining multiple factors with different importance (weights).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Trust=(Typing×0.3)+(Gap×0.2)+(Hold×0.2)+(Mouse×0.3)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5FCAF5-0415-777E-4CDF-04425726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3D56A9-EB18-BF45-14FC-03EF6424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74564"/>
            <a:ext cx="891540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Euclidean Distance Algorithm :It is a mathematical algorithm used to calculate the distance between two points in 2D space.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Anomaly Detection Algorithm :An Anomaly Detection Algorithm is used to identify unusual or abnormal behavior by comparing current data with normal (stored)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93E4CF2-0F41-634E-60DF-40C356594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2438400"/>
            <a:ext cx="4381500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40CB682-1AA9-5B8F-B026-AF0DCB7EA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257800"/>
            <a:ext cx="525847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91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5B47FA-CDC5-FB05-36B2-2EF227C0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66" y="185303"/>
            <a:ext cx="7421067" cy="756919"/>
          </a:xfrm>
        </p:spPr>
        <p:txBody>
          <a:bodyPr/>
          <a:lstStyle/>
          <a:p>
            <a:pPr algn="ctr"/>
            <a:r>
              <a:rPr lang="en-IN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FDBF23-EEFE-F19F-4BE4-BD88707B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8" y="965668"/>
            <a:ext cx="8414367" cy="473975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Aggregation </a:t>
            </a:r>
            <a:r>
              <a:rPr lang="en-US" dirty="0" err="1"/>
              <a:t>Algorithm:An</a:t>
            </a:r>
            <a:r>
              <a:rPr lang="en-US" dirty="0"/>
              <a:t> Aggregation Algorithm is used to combine multiple values into a single result, such as sum, average, count, etc.</a:t>
            </a:r>
            <a:endParaRPr lang="en-IN" dirty="0"/>
          </a:p>
          <a:p>
            <a:r>
              <a:rPr lang="en-IN" dirty="0"/>
              <a:t>     Example (Typing gap average)</a:t>
            </a:r>
          </a:p>
          <a:p>
            <a:r>
              <a:rPr lang="en-IN" dirty="0"/>
              <a:t>      </a:t>
            </a:r>
            <a:r>
              <a:rPr lang="en-IN" dirty="0" err="1"/>
              <a:t>keyTimes.reduce</a:t>
            </a:r>
            <a:r>
              <a:rPr lang="en-IN" dirty="0"/>
              <a:t>((</a:t>
            </a:r>
            <a:r>
              <a:rPr lang="en-IN" dirty="0" err="1"/>
              <a:t>a,b</a:t>
            </a:r>
            <a:r>
              <a:rPr lang="en-IN" dirty="0"/>
              <a:t>)=&gt;</a:t>
            </a:r>
            <a:r>
              <a:rPr lang="en-IN" dirty="0" err="1"/>
              <a:t>a+b</a:t>
            </a:r>
            <a:r>
              <a:rPr lang="en-IN" dirty="0"/>
              <a:t>) /</a:t>
            </a:r>
            <a:r>
              <a:rPr lang="en-IN" dirty="0" err="1"/>
              <a:t>keyTimes.length</a:t>
            </a:r>
            <a:endParaRPr lang="en-IN" dirty="0"/>
          </a:p>
          <a:p>
            <a:r>
              <a:rPr lang="en-IN" dirty="0"/>
              <a:t>      Example (Hold time average)</a:t>
            </a:r>
          </a:p>
          <a:p>
            <a:r>
              <a:rPr lang="en-IN" dirty="0"/>
              <a:t>      </a:t>
            </a:r>
            <a:r>
              <a:rPr lang="en-IN" dirty="0" err="1"/>
              <a:t>holdTimes.reduce</a:t>
            </a:r>
            <a:r>
              <a:rPr lang="en-IN" dirty="0"/>
              <a:t>((</a:t>
            </a:r>
            <a:r>
              <a:rPr lang="en-IN" dirty="0" err="1"/>
              <a:t>a,b</a:t>
            </a:r>
            <a:r>
              <a:rPr lang="en-IN" dirty="0"/>
              <a:t>)=&gt;</a:t>
            </a:r>
            <a:r>
              <a:rPr lang="en-IN" dirty="0" err="1"/>
              <a:t>a+b</a:t>
            </a:r>
            <a:r>
              <a:rPr lang="en-IN" dirty="0"/>
              <a:t>) / </a:t>
            </a:r>
            <a:r>
              <a:rPr lang="en-IN" dirty="0" err="1"/>
              <a:t>holdTimes.length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Decision Algorithm : It is a rule-based algorithm that makes decisions by comparing a value with predefined limits (thresholds).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27505C-A7DF-6BBB-ED50-7535B36E8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553" y="5257800"/>
            <a:ext cx="4182059" cy="16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41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3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517229"/>
            <a:ext cx="4481830" cy="36112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Encrypted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passwords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0" dirty="0">
                <a:latin typeface="Times New Roman"/>
                <a:cs typeface="Times New Roman"/>
              </a:rPr>
              <a:t> PIN.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Security question </a:t>
            </a:r>
            <a:r>
              <a:rPr sz="2800" spc="-10" dirty="0">
                <a:latin typeface="Times New Roman"/>
                <a:cs typeface="Times New Roman"/>
              </a:rPr>
              <a:t>answers.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spc="-10" dirty="0">
                <a:latin typeface="Times New Roman"/>
                <a:cs typeface="Times New Roman"/>
              </a:rPr>
              <a:t>Typing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spc="-20" dirty="0">
                <a:latin typeface="Times New Roman"/>
                <a:cs typeface="Times New Roman"/>
              </a:rPr>
              <a:t>Touch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gesture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patterns.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Login location </a:t>
            </a:r>
            <a:r>
              <a:rPr sz="2800" spc="-10" dirty="0">
                <a:latin typeface="Times New Roman"/>
                <a:cs typeface="Times New Roman"/>
              </a:rPr>
              <a:t>history.</a:t>
            </a:r>
            <a:endParaRPr sz="28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verification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records.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7066" y="-27559"/>
            <a:ext cx="5867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215" marR="5080" indent="-12001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Technologies Used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2400" y="723929"/>
            <a:ext cx="8991600" cy="61350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JavaScript is used for client-side logic and capturing user behavior (typing, mouse movement)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Python is used as the backend programming language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Flask framework is used to build the web application and handle routes/APIs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SQLite is used as the database to store user data and behavioral data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Geolocation API is used to capture the user’s location 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JavaScript event listeners (</a:t>
            </a:r>
            <a:r>
              <a:rPr lang="en-US" sz="2800" dirty="0" err="1">
                <a:latin typeface="Times New Roman"/>
                <a:cs typeface="Times New Roman"/>
              </a:rPr>
              <a:t>keydown</a:t>
            </a:r>
            <a:r>
              <a:rPr lang="en-US" sz="2800" dirty="0">
                <a:latin typeface="Times New Roman"/>
                <a:cs typeface="Times New Roman"/>
              </a:rPr>
              <a:t>, </a:t>
            </a:r>
            <a:r>
              <a:rPr lang="en-US" sz="2800" dirty="0" err="1">
                <a:latin typeface="Times New Roman"/>
                <a:cs typeface="Times New Roman"/>
              </a:rPr>
              <a:t>keyup</a:t>
            </a:r>
            <a:r>
              <a:rPr lang="en-US" sz="2800" dirty="0">
                <a:latin typeface="Times New Roman"/>
                <a:cs typeface="Times New Roman"/>
              </a:rPr>
              <a:t>,) are used to track user activity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SMTP (Simple Mail Transfer Protocol) is used to send OTP to user</a:t>
            </a:r>
          </a:p>
          <a:p>
            <a:pPr marL="611504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41959" algn="l"/>
              </a:tabLst>
            </a:pPr>
            <a:r>
              <a:rPr lang="en-US" sz="2800" dirty="0" err="1">
                <a:latin typeface="Times New Roman"/>
                <a:cs typeface="Times New Roman"/>
              </a:rPr>
              <a:t>Bcrypt</a:t>
            </a:r>
            <a:r>
              <a:rPr lang="en-US" sz="2800" dirty="0">
                <a:latin typeface="Times New Roman"/>
                <a:cs typeface="Times New Roman"/>
              </a:rPr>
              <a:t> is a password hashing algorithm used to securely store passwords.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7648" y="458339"/>
            <a:ext cx="5831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99765" algn="l"/>
              </a:tabLst>
            </a:pPr>
            <a:r>
              <a:rPr spc="-30" dirty="0"/>
              <a:t>Working</a:t>
            </a:r>
            <a:r>
              <a:rPr spc="-260" dirty="0"/>
              <a:t> </a:t>
            </a:r>
            <a:r>
              <a:rPr spc="-25" dirty="0"/>
              <a:t>of</a:t>
            </a:r>
            <a:r>
              <a:rPr dirty="0"/>
              <a:t>	the</a:t>
            </a:r>
            <a:r>
              <a:rPr spc="-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589862"/>
            <a:ext cx="7618095" cy="433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2530475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 err="1">
                <a:latin typeface="Times New Roman"/>
                <a:cs typeface="Times New Roman"/>
              </a:rPr>
              <a:t>recor</a:t>
            </a:r>
            <a:r>
              <a:rPr lang="en-IN" sz="2800" spc="-10" dirty="0">
                <a:latin typeface="Times New Roman"/>
                <a:cs typeface="Times New Roman"/>
              </a:rPr>
              <a:t>ds </a:t>
            </a:r>
            <a:r>
              <a:rPr sz="2800" spc="-1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baseline.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credentials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verified.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spc="-10" dirty="0">
                <a:latin typeface="Times New Roman"/>
                <a:cs typeface="Times New Roman"/>
              </a:rPr>
              <a:t>Typing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gesture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analysed.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Location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 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checked.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lang="en-US" sz="2800" dirty="0">
                <a:latin typeface="Times New Roman"/>
                <a:cs typeface="Times New Roman"/>
              </a:rPr>
              <a:t>f any suspicious activity is detected during login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99720" marR="991869" indent="-28765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matches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profile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spc="-10" dirty="0">
                <a:latin typeface="Times New Roman"/>
                <a:cs typeface="Times New Roman"/>
              </a:rPr>
              <a:t>granted.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15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262" y="1517229"/>
            <a:ext cx="7891780" cy="34404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Behavioural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security.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additional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invisible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protection.</a:t>
            </a:r>
            <a:endParaRPr sz="280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035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suspicious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attempts.</a:t>
            </a:r>
            <a:endParaRPr sz="2800" dirty="0">
              <a:latin typeface="Times New Roman"/>
              <a:cs typeface="Times New Roman"/>
            </a:endParaRPr>
          </a:p>
          <a:p>
            <a:pPr marL="300355" marR="1414780" indent="-28829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banking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financial 	applications.</a:t>
            </a:r>
            <a:endParaRPr sz="2800" dirty="0">
              <a:latin typeface="Times New Roman"/>
              <a:cs typeface="Times New Roman"/>
            </a:endParaRPr>
          </a:p>
          <a:p>
            <a:pPr marL="300355" marR="669925" indent="-28829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Times New Roman"/>
                <a:cs typeface="Times New Roman"/>
              </a:rPr>
              <a:t>Future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integrate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behaviour 	prediction.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6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176019"/>
            <a:ext cx="9144000" cy="557780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 F. Monrose and A. D. Rubin, “Keystroke dynamics as a biometric for authentication,” Future Generation Computer Systems, vol. 16, no. 4, pp. 351–359, 2000.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 A. H. M. A. Hossain and P. K. Atrey, “Location-based authentication: Techniques and challenges,” IEEE Internet Computing, vol. 19, no. 1, pp. 46–53, Jan.–Feb. 2015.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M. Frank, R. </a:t>
            </a:r>
            <a:r>
              <a:rPr lang="en-US" sz="2800" dirty="0" err="1">
                <a:latin typeface="Times New Roman"/>
                <a:cs typeface="Times New Roman"/>
              </a:rPr>
              <a:t>Biedert</a:t>
            </a:r>
            <a:r>
              <a:rPr lang="en-US" sz="2800" dirty="0">
                <a:latin typeface="Times New Roman"/>
                <a:cs typeface="Times New Roman"/>
              </a:rPr>
              <a:t>, E. Ma, I. Martinovic, and D. Song, “</a:t>
            </a:r>
            <a:r>
              <a:rPr lang="en-US" sz="2800" dirty="0" err="1">
                <a:latin typeface="Times New Roman"/>
                <a:cs typeface="Times New Roman"/>
              </a:rPr>
              <a:t>Touchalytics</a:t>
            </a:r>
            <a:r>
              <a:rPr lang="en-US" sz="2800" dirty="0">
                <a:latin typeface="Times New Roman"/>
                <a:cs typeface="Times New Roman"/>
              </a:rPr>
              <a:t>: On the applicability of touchscreen input as a behavioral biometric for continuous authentication,” IEEE Transactions on Information Forensics and Security, vol. 8, no. 1, pp. 136–148, Jan. 2013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C1B58E-B6A5-001E-2F57-D969660A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xmlns="" id="{C14401B7-1B87-4625-8923-1CCBD8213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6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1DC1C933-2AAF-B63C-FDFD-74EEE4CD25CF}"/>
              </a:ext>
            </a:extLst>
          </p:cNvPr>
          <p:cNvSpPr txBox="1"/>
          <p:nvPr/>
        </p:nvSpPr>
        <p:spPr>
          <a:xfrm>
            <a:off x="76200" y="1176019"/>
            <a:ext cx="9144000" cy="41825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 S. Patel, J. M. H. </a:t>
            </a:r>
            <a:r>
              <a:rPr lang="en-IN" sz="2800" dirty="0" err="1">
                <a:latin typeface="Times New Roman"/>
                <a:cs typeface="Times New Roman"/>
              </a:rPr>
              <a:t>Elmirghani</a:t>
            </a:r>
            <a:r>
              <a:rPr lang="en-IN" sz="2800" dirty="0">
                <a:latin typeface="Times New Roman"/>
                <a:cs typeface="Times New Roman"/>
              </a:rPr>
              <a:t>, “Active authentication using </a:t>
            </a:r>
            <a:r>
              <a:rPr lang="en-IN" sz="2800" dirty="0" err="1">
                <a:latin typeface="Times New Roman"/>
                <a:cs typeface="Times New Roman"/>
              </a:rPr>
              <a:t>behavioral</a:t>
            </a:r>
            <a:r>
              <a:rPr lang="en-IN" sz="2800" dirty="0">
                <a:latin typeface="Times New Roman"/>
                <a:cs typeface="Times New Roman"/>
              </a:rPr>
              <a:t> biometrics,” IEEE Communications Magazine, vol. 53, no. 6, pp. 170–176, June 2015.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 A. Morales, J. </a:t>
            </a:r>
            <a:r>
              <a:rPr lang="en-IN" sz="2800" dirty="0" err="1">
                <a:latin typeface="Times New Roman"/>
                <a:cs typeface="Times New Roman"/>
              </a:rPr>
              <a:t>Fierrez</a:t>
            </a:r>
            <a:r>
              <a:rPr lang="en-IN" sz="2800" dirty="0">
                <a:latin typeface="Times New Roman"/>
                <a:cs typeface="Times New Roman"/>
              </a:rPr>
              <a:t>, R. Vera-Rodriguez, and R. </a:t>
            </a:r>
            <a:r>
              <a:rPr lang="en-IN" sz="2800" dirty="0" err="1">
                <a:latin typeface="Times New Roman"/>
                <a:cs typeface="Times New Roman"/>
              </a:rPr>
              <a:t>Tolosana</a:t>
            </a:r>
            <a:r>
              <a:rPr lang="en-IN" sz="2800" dirty="0">
                <a:latin typeface="Times New Roman"/>
                <a:cs typeface="Times New Roman"/>
              </a:rPr>
              <a:t>, “Keystroke dynamics recognition based on deep learning,” IEEE Access, vol. 6, pp. 15668–15677, 2018.</a:t>
            </a:r>
          </a:p>
          <a:p>
            <a:pPr marL="300355" indent="-28765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0035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 C. C. Aggarwal, “Outlier analysis for anomaly detection in user </a:t>
            </a:r>
            <a:r>
              <a:rPr lang="en-IN" sz="2800" dirty="0" err="1">
                <a:latin typeface="Times New Roman"/>
                <a:cs typeface="Times New Roman"/>
              </a:rPr>
              <a:t>behavior</a:t>
            </a:r>
            <a:r>
              <a:rPr lang="en-IN" sz="2800" dirty="0">
                <a:latin typeface="Times New Roman"/>
                <a:cs typeface="Times New Roman"/>
              </a:rPr>
              <a:t>,” ACM Computing Surveys, vol. 50, no. 3, pp. 1–36, 2017.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7307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0F3655-5366-0B4B-6711-F09A31D8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66" y="419100"/>
            <a:ext cx="7421067" cy="30778"/>
          </a:xfrm>
        </p:spPr>
        <p:txBody>
          <a:bodyPr/>
          <a:lstStyle/>
          <a:p>
            <a:r>
              <a:rPr lang="en-US" sz="100" dirty="0"/>
              <a:t>1</a:t>
            </a:r>
            <a:br>
              <a:rPr lang="en-US" sz="100" dirty="0"/>
            </a:br>
            <a:endParaRPr lang="en-IN" sz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92FC9F-FB2D-0EE0-14EA-CD5EED06F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231" y="2286000"/>
            <a:ext cx="7989535" cy="1477328"/>
          </a:xfrm>
        </p:spPr>
        <p:txBody>
          <a:bodyPr/>
          <a:lstStyle/>
          <a:p>
            <a:pPr algn="ctr"/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43707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1586</Words>
  <Application>Microsoft Office PowerPoint</Application>
  <PresentationFormat>On-screen Show (4:3)</PresentationFormat>
  <Paragraphs>290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MT</vt:lpstr>
      <vt:lpstr>Calibri</vt:lpstr>
      <vt:lpstr>Times New Roman</vt:lpstr>
      <vt:lpstr>Office Theme</vt:lpstr>
      <vt:lpstr>PowerPoint Presentation</vt:lpstr>
      <vt:lpstr>Introduction</vt:lpstr>
      <vt:lpstr>Motivation</vt:lpstr>
      <vt:lpstr>      Objective </vt:lpstr>
      <vt:lpstr>Literature Survey – Paper 1</vt:lpstr>
      <vt:lpstr>Literature Survey – Paper 2</vt:lpstr>
      <vt:lpstr>Literature Survey – Paper 3</vt:lpstr>
      <vt:lpstr>Literature Survey – Paper 4</vt:lpstr>
      <vt:lpstr>Literature Survey – Paper 5</vt:lpstr>
      <vt:lpstr>Literature Survey – Paper 6</vt:lpstr>
      <vt:lpstr>Summary of Literature Review</vt:lpstr>
      <vt:lpstr>Research Gap / Findings</vt:lpstr>
      <vt:lpstr>Research Objectives</vt:lpstr>
      <vt:lpstr>Problem Statement</vt:lpstr>
      <vt:lpstr>Proposed System</vt:lpstr>
      <vt:lpstr>  Block Diagram</vt:lpstr>
      <vt:lpstr> Architecture </vt:lpstr>
      <vt:lpstr>   Architecture </vt:lpstr>
      <vt:lpstr>System Design</vt:lpstr>
      <vt:lpstr>Algorithm</vt:lpstr>
      <vt:lpstr>Algorithm</vt:lpstr>
      <vt:lpstr>Algorithm</vt:lpstr>
      <vt:lpstr>Database / Data Requirements</vt:lpstr>
      <vt:lpstr>Technologies Used</vt:lpstr>
      <vt:lpstr>Working of the Project</vt:lpstr>
      <vt:lpstr>Conclusion</vt:lpstr>
      <vt:lpstr>References</vt:lpstr>
      <vt:lpstr>References</vt:lpstr>
      <vt:lpstr>1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1</cp:revision>
  <dcterms:modified xsi:type="dcterms:W3CDTF">2026-04-23T16:27:52Z</dcterms:modified>
</cp:coreProperties>
</file>